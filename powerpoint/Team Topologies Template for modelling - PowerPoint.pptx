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F"/>
    <a:srgbClr val="000000"/>
    <a:srgbClr val="FFD966"/>
    <a:srgbClr val="FFEDB8"/>
    <a:srgbClr val="9B99AF"/>
    <a:srgbClr val="B4B4B4"/>
    <a:srgbClr val="967EE2"/>
    <a:srgbClr val="789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4" d="100"/>
          <a:sy n="84" d="100"/>
        </p:scale>
        <p:origin x="96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00EC917-14A3-E32F-A74B-C8F50F51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9BF2C35-5525-18CA-16BE-9DBC403CC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7FEAAE3-818A-2E9F-3DC9-59CC208FE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09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topologie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topologies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75612" y="1207711"/>
            <a:ext cx="2985473" cy="307399"/>
          </a:xfrm>
          <a:prstGeom prst="roundRect">
            <a:avLst>
              <a:gd name="adj" fmla="val 16667"/>
            </a:avLst>
          </a:prstGeom>
          <a:solidFill>
            <a:srgbClr val="FFEDB8"/>
          </a:solidFill>
          <a:ln w="1905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Stream-aligned team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59226" y="1805582"/>
            <a:ext cx="1892309" cy="347968"/>
          </a:xfrm>
          <a:prstGeom prst="roundRect">
            <a:avLst>
              <a:gd name="adj" fmla="val 0"/>
            </a:avLst>
          </a:prstGeom>
          <a:solidFill>
            <a:srgbClr val="B7CDF1"/>
          </a:solidFill>
          <a:ln w="19050" cap="flat" cmpd="sng">
            <a:solidFill>
              <a:srgbClr val="6D9EEB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Platform Grouping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652812" y="1661623"/>
            <a:ext cx="687139" cy="762400"/>
          </a:xfrm>
          <a:prstGeom prst="roundRect">
            <a:avLst>
              <a:gd name="adj" fmla="val 16667"/>
            </a:avLst>
          </a:prstGeom>
          <a:solidFill>
            <a:srgbClr val="DFBDCF"/>
          </a:solidFill>
          <a:ln w="19050" cap="flat" cmpd="sng">
            <a:solidFill>
              <a:srgbClr val="D09C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Enabling team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415580" y="2586438"/>
            <a:ext cx="1161600" cy="699600"/>
          </a:xfrm>
          <a:prstGeom prst="octagon">
            <a:avLst>
              <a:gd name="adj" fmla="val 29289"/>
            </a:avLst>
          </a:prstGeom>
          <a:solidFill>
            <a:srgbClr val="FFC08B"/>
          </a:solidFill>
          <a:ln w="19050" cap="flat" cmpd="sng">
            <a:solidFill>
              <a:srgbClr val="E88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Complicated Subsystem team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575156" y="88961"/>
            <a:ext cx="5927049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These shapes can be used as copy/paste templates for modelling organization design and team interactions based on the ideas in Team Topologies. See</a:t>
            </a:r>
            <a:r>
              <a:rPr lang="en-GB" sz="900" dirty="0">
                <a:solidFill>
                  <a:srgbClr val="434343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900" u="sng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teamtopologies.com</a:t>
            </a:r>
            <a:r>
              <a:rPr lang="en-GB" sz="9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for more details. We have tried to make the shapes match as closely as possible to those in the book, but some shapes are slightly different.</a:t>
            </a:r>
            <a:endParaRPr sz="900" dirty="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699342" y="1207711"/>
            <a:ext cx="1403825" cy="515013"/>
          </a:xfrm>
          <a:prstGeom prst="flowChartInputOutput">
            <a:avLst/>
          </a:prstGeom>
          <a:solidFill>
            <a:srgbClr val="C6BEDF">
              <a:alpha val="54490"/>
            </a:srgbClr>
          </a:solidFill>
          <a:ln w="19050" cap="flat" cmpd="sng">
            <a:solidFill>
              <a:srgbClr val="967EE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Collaboration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57812" y="795605"/>
            <a:ext cx="22371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u="sng" dirty="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Fundamental Team Types</a:t>
            </a:r>
            <a:endParaRPr sz="1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41765" y="790644"/>
            <a:ext cx="24330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u="sng" dirty="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Fundamental Groupings</a:t>
            </a:r>
            <a:endParaRPr sz="1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6939178" y="1849706"/>
            <a:ext cx="915000" cy="804300"/>
          </a:xfrm>
          <a:prstGeom prst="triangle">
            <a:avLst>
              <a:gd name="adj" fmla="val 50000"/>
            </a:avLst>
          </a:prstGeom>
          <a:solidFill>
            <a:srgbClr val="B4B4B4">
              <a:alpha val="50196"/>
            </a:srgbClr>
          </a:solidFill>
          <a:ln w="19050" cap="flat" cmpd="sng">
            <a:solidFill>
              <a:srgbClr val="99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XaaS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898378" y="2842588"/>
            <a:ext cx="996600" cy="1008000"/>
          </a:xfrm>
          <a:prstGeom prst="ellipse">
            <a:avLst/>
          </a:prstGeom>
          <a:solidFill>
            <a:srgbClr val="C9DFBE">
              <a:alpha val="51120"/>
            </a:srgbClr>
          </a:solidFill>
          <a:ln w="19050" cap="flat" cmpd="sng">
            <a:solidFill>
              <a:srgbClr val="78996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Facilitating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43257" y="97773"/>
            <a:ext cx="2031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Open Sans"/>
                <a:ea typeface="Open Sans"/>
                <a:cs typeface="Open Sans"/>
                <a:sym typeface="Open Sans"/>
              </a:rPr>
              <a:t>Team Topologies </a:t>
            </a:r>
            <a:r>
              <a:rPr lang="en-GB" sz="1200" dirty="0">
                <a:latin typeface="Open Sans"/>
                <a:ea typeface="Open Sans"/>
                <a:cs typeface="Open Sans"/>
                <a:sym typeface="Open Sans"/>
              </a:rPr>
              <a:t>team shapes template</a:t>
            </a:r>
            <a:endParaRPr sz="12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969141" y="4086362"/>
            <a:ext cx="6971700" cy="576600"/>
          </a:xfrm>
          <a:prstGeom prst="rightArrow">
            <a:avLst>
              <a:gd name="adj1" fmla="val 57171"/>
              <a:gd name="adj2" fmla="val 70330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/>
              <a:t>Flow of value: {scenario}</a:t>
            </a:r>
            <a:endParaRPr sz="800" dirty="0"/>
          </a:p>
        </p:txBody>
      </p:sp>
      <p:sp>
        <p:nvSpPr>
          <p:cNvPr id="17" name="Google Shape;60;p13">
            <a:extLst>
              <a:ext uri="{FF2B5EF4-FFF2-40B4-BE49-F238E27FC236}">
                <a16:creationId xmlns:a16="http://schemas.microsoft.com/office/drawing/2014/main" id="{375340AE-F0EC-3145-BD9D-2FA5853FB29E}"/>
              </a:ext>
            </a:extLst>
          </p:cNvPr>
          <p:cNvSpPr txBox="1"/>
          <p:nvPr/>
        </p:nvSpPr>
        <p:spPr>
          <a:xfrm>
            <a:off x="6265106" y="790644"/>
            <a:ext cx="22371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u="sng" dirty="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Team Interaction Modes</a:t>
            </a:r>
            <a:endParaRPr sz="1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3BF36998-4566-92A7-4C43-44D97F9924C0}"/>
              </a:ext>
            </a:extLst>
          </p:cNvPr>
          <p:cNvSpPr/>
          <p:nvPr/>
        </p:nvSpPr>
        <p:spPr>
          <a:xfrm>
            <a:off x="3959225" y="1207711"/>
            <a:ext cx="1892309" cy="347968"/>
          </a:xfrm>
          <a:prstGeom prst="roundRect">
            <a:avLst>
              <a:gd name="adj" fmla="val 0"/>
            </a:avLst>
          </a:prstGeom>
          <a:solidFill>
            <a:srgbClr val="FFEDB8"/>
          </a:solidFill>
          <a:ln w="25400" cap="flat" cmpd="sng">
            <a:solidFill>
              <a:srgbClr val="FFD966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Open Sans"/>
                <a:ea typeface="Open Sans"/>
                <a:cs typeface="Open Sans"/>
                <a:sym typeface="Open Sans"/>
              </a:rPr>
              <a:t>Value Stream Grouping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D2F276-AF2B-8373-C6BE-C5F7C0D3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7F3ED5E9-9D43-91C7-F635-89652820A2C7}"/>
              </a:ext>
            </a:extLst>
          </p:cNvPr>
          <p:cNvSpPr txBox="1"/>
          <p:nvPr/>
        </p:nvSpPr>
        <p:spPr>
          <a:xfrm>
            <a:off x="2575156" y="88961"/>
            <a:ext cx="5927049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These shapes can be used as copy/paste templates for modelling organization design and team interactions based on the ideas in Team Topologies. See</a:t>
            </a:r>
            <a:r>
              <a:rPr lang="en-GB" sz="900" dirty="0">
                <a:solidFill>
                  <a:srgbClr val="434343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900" u="sng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teamtopologies.com</a:t>
            </a:r>
            <a:r>
              <a:rPr lang="en-GB" sz="900" dirty="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for more details. We have tried to make the shapes match as closely as possible to those in the book, but some shapes are slightly different.</a:t>
            </a:r>
            <a:endParaRPr sz="900" dirty="0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BA4D9BF0-71C7-D5D3-8E22-F069CE2FB683}"/>
              </a:ext>
            </a:extLst>
          </p:cNvPr>
          <p:cNvSpPr txBox="1"/>
          <p:nvPr/>
        </p:nvSpPr>
        <p:spPr>
          <a:xfrm>
            <a:off x="338055" y="891706"/>
            <a:ext cx="22371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u="sng" dirty="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Supplementary Team Types</a:t>
            </a:r>
            <a:endParaRPr sz="1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B2014498-4074-55EC-06CA-B44A47D1703B}"/>
              </a:ext>
            </a:extLst>
          </p:cNvPr>
          <p:cNvSpPr txBox="1"/>
          <p:nvPr/>
        </p:nvSpPr>
        <p:spPr>
          <a:xfrm>
            <a:off x="543257" y="97773"/>
            <a:ext cx="20319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Open Sans"/>
                <a:ea typeface="Open Sans"/>
                <a:cs typeface="Open Sans"/>
                <a:sym typeface="Open Sans"/>
              </a:rPr>
              <a:t>Team Topologies </a:t>
            </a:r>
            <a:r>
              <a:rPr lang="en-GB" sz="1200" dirty="0">
                <a:latin typeface="Open Sans"/>
                <a:ea typeface="Open Sans"/>
                <a:cs typeface="Open Sans"/>
                <a:sym typeface="Open Sans"/>
              </a:rPr>
              <a:t>team shapes template</a:t>
            </a:r>
            <a:endParaRPr sz="12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60;p13">
            <a:extLst>
              <a:ext uri="{FF2B5EF4-FFF2-40B4-BE49-F238E27FC236}">
                <a16:creationId xmlns:a16="http://schemas.microsoft.com/office/drawing/2014/main" id="{EB05C978-4BFD-32AD-EECD-E81136B2794E}"/>
              </a:ext>
            </a:extLst>
          </p:cNvPr>
          <p:cNvSpPr txBox="1"/>
          <p:nvPr/>
        </p:nvSpPr>
        <p:spPr>
          <a:xfrm>
            <a:off x="435036" y="2921397"/>
            <a:ext cx="2425927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u="sng" dirty="0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Supplementary Interaction Modes</a:t>
            </a:r>
            <a:endParaRPr sz="1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D829DA-15C9-3A60-BF37-02741D814508}"/>
              </a:ext>
            </a:extLst>
          </p:cNvPr>
          <p:cNvSpPr/>
          <p:nvPr/>
        </p:nvSpPr>
        <p:spPr>
          <a:xfrm>
            <a:off x="543257" y="1578014"/>
            <a:ext cx="2001981" cy="398915"/>
          </a:xfrm>
          <a:prstGeom prst="roundRect">
            <a:avLst/>
          </a:prstGeom>
          <a:solidFill>
            <a:srgbClr val="EBEBEF"/>
          </a:solidFill>
          <a:ln>
            <a:solidFill>
              <a:srgbClr val="9B99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Undefined Team Type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70BBB-75BD-1A7E-5609-7B4EDAF08DDA}"/>
              </a:ext>
            </a:extLst>
          </p:cNvPr>
          <p:cNvSpPr/>
          <p:nvPr/>
        </p:nvSpPr>
        <p:spPr>
          <a:xfrm>
            <a:off x="1066454" y="3466950"/>
            <a:ext cx="1163089" cy="1073300"/>
          </a:xfrm>
          <a:prstGeom prst="rect">
            <a:avLst/>
          </a:prstGeom>
          <a:solidFill>
            <a:srgbClr val="EBEBEF">
              <a:alpha val="50196"/>
            </a:srgbClr>
          </a:solidFill>
          <a:ln>
            <a:solidFill>
              <a:srgbClr val="9B99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Undefined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Interaction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2E2C68-C623-4988-6E85-B58EDDB93358}"/>
              </a:ext>
            </a:extLst>
          </p:cNvPr>
          <p:cNvGrpSpPr/>
          <p:nvPr/>
        </p:nvGrpSpPr>
        <p:grpSpPr>
          <a:xfrm>
            <a:off x="3321745" y="3466949"/>
            <a:ext cx="2001981" cy="1073298"/>
            <a:chOff x="2964757" y="3466949"/>
            <a:chExt cx="2001981" cy="1073298"/>
          </a:xfrm>
        </p:grpSpPr>
        <p:sp>
          <p:nvSpPr>
            <p:cNvPr id="14" name="Trapezoid 13">
              <a:extLst>
                <a:ext uri="{FF2B5EF4-FFF2-40B4-BE49-F238E27FC236}">
                  <a16:creationId xmlns:a16="http://schemas.microsoft.com/office/drawing/2014/main" id="{E9E9E321-1793-CAD9-5619-6E2A4E97AD14}"/>
                </a:ext>
              </a:extLst>
            </p:cNvPr>
            <p:cNvSpPr/>
            <p:nvPr/>
          </p:nvSpPr>
          <p:spPr>
            <a:xfrm rot="10800000">
              <a:off x="2964757" y="3466949"/>
              <a:ext cx="2001981" cy="1073298"/>
            </a:xfrm>
            <a:prstGeom prst="trapezoid">
              <a:avLst>
                <a:gd name="adj" fmla="val 39326"/>
              </a:avLst>
            </a:prstGeom>
            <a:solidFill>
              <a:srgbClr val="EBEBEF">
                <a:alpha val="50196"/>
              </a:srgbClr>
            </a:solidFill>
            <a:ln>
              <a:solidFill>
                <a:srgbClr val="9B99A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945C4F-C412-CD9A-49EF-405A3FEC44AD}"/>
                </a:ext>
              </a:extLst>
            </p:cNvPr>
            <p:cNvSpPr txBox="1"/>
            <p:nvPr/>
          </p:nvSpPr>
          <p:spPr>
            <a:xfrm>
              <a:off x="3641780" y="3834321"/>
              <a:ext cx="647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chemeClr val="tx1"/>
                  </a:solidFill>
                </a:rPr>
                <a:t>Temporal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Coupling</a:t>
              </a:r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936C5848-E554-A7B8-A354-F36D679C71DD}"/>
              </a:ext>
            </a:extLst>
          </p:cNvPr>
          <p:cNvSpPr/>
          <p:nvPr/>
        </p:nvSpPr>
        <p:spPr>
          <a:xfrm>
            <a:off x="6415926" y="3466949"/>
            <a:ext cx="1408311" cy="1073298"/>
          </a:xfrm>
          <a:prstGeom prst="diamond">
            <a:avLst/>
          </a:prstGeom>
          <a:solidFill>
            <a:srgbClr val="EBEBEF">
              <a:alpha val="50196"/>
            </a:srgbClr>
          </a:solidFill>
          <a:ln>
            <a:solidFill>
              <a:srgbClr val="9B99A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Handover</a:t>
            </a:r>
          </a:p>
        </p:txBody>
      </p:sp>
    </p:spTree>
    <p:extLst>
      <p:ext uri="{BB962C8B-B14F-4D97-AF65-F5344CB8AC3E}">
        <p14:creationId xmlns:p14="http://schemas.microsoft.com/office/powerpoint/2010/main" val="16937604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170</Words>
  <Application>Microsoft Office PowerPoint</Application>
  <PresentationFormat>On-screen Show (16:9)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Open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Jacob</cp:lastModifiedBy>
  <cp:revision>11</cp:revision>
  <dcterms:modified xsi:type="dcterms:W3CDTF">2026-01-24T20:46:58Z</dcterms:modified>
</cp:coreProperties>
</file>